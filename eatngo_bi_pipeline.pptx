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977640"/>
            <a:ext cx="12188952" cy="2880360"/>
          </a:xfrm>
          <a:prstGeom prst="rect">
            <a:avLst/>
          </a:prstGeom>
          <a:solidFill>
            <a:srgbClr val="18205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0515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rgbClr val="2F8F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EAT'N'GO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1508760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 Engineering Pipeline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640080" y="26060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Multi-Brand Sales, Product, Customer, Store &amp; Delivery Reporting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31089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Domino's Pizza Nigeria   •   Cold Stone Creamery Nigeria   •   Pinkberry Nigeria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4343400"/>
            <a:ext cx="3383280" cy="640080"/>
          </a:xfrm>
          <a:prstGeom prst="roundRect">
            <a:avLst>
              <a:gd name="adj" fmla="val 11429"/>
            </a:avLst>
          </a:prstGeom>
          <a:solidFill>
            <a:srgbClr val="2C3768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434340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MinIO (S3-compatible storage)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297680" y="4343400"/>
            <a:ext cx="3383280" cy="640080"/>
          </a:xfrm>
          <a:prstGeom prst="roundRect">
            <a:avLst>
              <a:gd name="adj" fmla="val 11429"/>
            </a:avLst>
          </a:prstGeom>
          <a:solidFill>
            <a:srgbClr val="2F8F9D"/>
          </a:solidFill>
          <a:ln/>
        </p:spPr>
      </p:sp>
      <p:sp>
        <p:nvSpPr>
          <p:cNvPr id="10" name="Text 8"/>
          <p:cNvSpPr/>
          <p:nvPr/>
        </p:nvSpPr>
        <p:spPr>
          <a:xfrm>
            <a:off x="4297680" y="434340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DuckDB (warehouse compute)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955280" y="4343400"/>
            <a:ext cx="3383280" cy="640080"/>
          </a:xfrm>
          <a:prstGeom prst="roundRect">
            <a:avLst>
              <a:gd name="adj" fmla="val 11429"/>
            </a:avLst>
          </a:prstGeom>
          <a:solidFill>
            <a:srgbClr val="2C3768"/>
          </a:solidFill>
          <a:ln/>
        </p:spPr>
      </p:sp>
      <p:sp>
        <p:nvSpPr>
          <p:cNvPr id="12" name="Text 10"/>
          <p:cNvSpPr/>
          <p:nvPr/>
        </p:nvSpPr>
        <p:spPr>
          <a:xfrm>
            <a:off x="7955280" y="434340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Airflow (orchestration)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0080" y="54864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Case Study — BI Engineer Assessment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0080" y="63093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Chichi  |  July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 Overview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2F8F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Storage: MinIO (S3-compatible)  •  Compute: DuckDB  •  Five layers, including two distinct staging stages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2103120" cy="960120"/>
          </a:xfrm>
          <a:prstGeom prst="roundRect">
            <a:avLst>
              <a:gd name="adj" fmla="val 5714"/>
            </a:avLst>
          </a:prstGeom>
          <a:solidFill>
            <a:srgbClr val="2C376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55448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1892808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MinIO · JSON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651760" y="1463040"/>
            <a:ext cx="137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88920" y="1463040"/>
            <a:ext cx="2103120" cy="960120"/>
          </a:xfrm>
          <a:prstGeom prst="roundRect">
            <a:avLst>
              <a:gd name="adj" fmla="val 5714"/>
            </a:avLst>
          </a:prstGeom>
          <a:solidFill>
            <a:srgbClr val="3A4A6B"/>
          </a:solidFill>
          <a:ln/>
        </p:spPr>
      </p:sp>
      <p:sp>
        <p:nvSpPr>
          <p:cNvPr id="9" name="Text 7"/>
          <p:cNvSpPr/>
          <p:nvPr/>
        </p:nvSpPr>
        <p:spPr>
          <a:xfrm>
            <a:off x="2788920" y="155448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STAGING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788920" y="1892808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MinIO · Parquet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892040" y="1463040"/>
            <a:ext cx="137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029200" y="1463040"/>
            <a:ext cx="2103120" cy="960120"/>
          </a:xfrm>
          <a:prstGeom prst="roundRect">
            <a:avLst>
              <a:gd name="adj" fmla="val 5714"/>
            </a:avLst>
          </a:prstGeom>
          <a:solidFill>
            <a:srgbClr val="4A5C87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0" y="155448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STAGING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029200" y="1892808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DuckDB · int_*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7132320" y="1463040"/>
            <a:ext cx="137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269480" y="1463040"/>
            <a:ext cx="2103120" cy="960120"/>
          </a:xfrm>
          <a:prstGeom prst="roundRect">
            <a:avLst>
              <a:gd name="adj" fmla="val 5714"/>
            </a:avLst>
          </a:prstGeom>
          <a:solidFill>
            <a:srgbClr val="2F8F9D"/>
          </a:solidFill>
          <a:ln/>
        </p:spPr>
      </p:sp>
      <p:sp>
        <p:nvSpPr>
          <p:cNvPr id="17" name="Text 15"/>
          <p:cNvSpPr/>
          <p:nvPr/>
        </p:nvSpPr>
        <p:spPr>
          <a:xfrm>
            <a:off x="7269480" y="155448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MARTS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269480" y="1892808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DuckDB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9372600" y="1463040"/>
            <a:ext cx="137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9509760" y="1463040"/>
            <a:ext cx="2103120" cy="960120"/>
          </a:xfrm>
          <a:prstGeom prst="roundRect">
            <a:avLst>
              <a:gd name="adj" fmla="val 5714"/>
            </a:avLst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9509760" y="155448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509760" y="1892808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core.* views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48640" y="2542032"/>
            <a:ext cx="210312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3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 JSON, exactly as received; manifest tracks load outcomes.</a:t>
            </a:r>
            <a:endParaRPr lang="en-US" sz="930" dirty="0"/>
          </a:p>
        </p:txBody>
      </p:sp>
      <p:sp>
        <p:nvSpPr>
          <p:cNvPr id="24" name="Text 22"/>
          <p:cNvSpPr/>
          <p:nvPr/>
        </p:nvSpPr>
        <p:spPr>
          <a:xfrm>
            <a:off x="2788920" y="2542032"/>
            <a:ext cx="210312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3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Typed Parquet, 1:1 grain. Adds _source_file, _loaded_at, _batch_id.</a:t>
            </a:r>
            <a:endParaRPr lang="en-US" sz="930" dirty="0"/>
          </a:p>
        </p:txBody>
      </p:sp>
      <p:sp>
        <p:nvSpPr>
          <p:cNvPr id="25" name="Text 23"/>
          <p:cNvSpPr/>
          <p:nvPr/>
        </p:nvSpPr>
        <p:spPr>
          <a:xfrm>
            <a:off x="5029200" y="2542032"/>
            <a:ext cx="210312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3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Deduplicated, cleaned int_* tables — parsing &amp; standardization.</a:t>
            </a:r>
            <a:endParaRPr lang="en-US" sz="930" dirty="0"/>
          </a:p>
        </p:txBody>
      </p:sp>
      <p:sp>
        <p:nvSpPr>
          <p:cNvPr id="26" name="Text 24"/>
          <p:cNvSpPr/>
          <p:nvPr/>
        </p:nvSpPr>
        <p:spPr>
          <a:xfrm>
            <a:off x="7269480" y="2542032"/>
            <a:ext cx="210312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3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 schema with business rules, grain separation, SCD2 history.</a:t>
            </a:r>
            <a:endParaRPr lang="en-US" sz="930" dirty="0"/>
          </a:p>
        </p:txBody>
      </p:sp>
      <p:sp>
        <p:nvSpPr>
          <p:cNvPr id="27" name="Text 25"/>
          <p:cNvSpPr/>
          <p:nvPr/>
        </p:nvSpPr>
        <p:spPr>
          <a:xfrm>
            <a:off x="9509760" y="2542032"/>
            <a:ext cx="210312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3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views for BI tools — outcomes created shown below.</a:t>
            </a:r>
            <a:endParaRPr lang="en-US" sz="930" dirty="0"/>
          </a:p>
        </p:txBody>
      </p:sp>
      <p:sp>
        <p:nvSpPr>
          <p:cNvPr id="28" name="Text 26"/>
          <p:cNvSpPr/>
          <p:nvPr/>
        </p:nvSpPr>
        <p:spPr>
          <a:xfrm>
            <a:off x="548640" y="3310128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/ Reporting Layer — Outputs Created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548640" y="3703320"/>
            <a:ext cx="2633472" cy="1005840"/>
          </a:xfrm>
          <a:prstGeom prst="roundRect">
            <a:avLst>
              <a:gd name="adj" fmla="val 5455"/>
            </a:avLst>
          </a:prstGeom>
          <a:solidFill>
            <a:srgbClr val="F2F4FA"/>
          </a:solidFill>
          <a:ln/>
        </p:spPr>
      </p:sp>
      <p:sp>
        <p:nvSpPr>
          <p:cNvPr id="30" name="Text 28"/>
          <p:cNvSpPr/>
          <p:nvPr/>
        </p:nvSpPr>
        <p:spPr>
          <a:xfrm>
            <a:off x="685800" y="3785616"/>
            <a:ext cx="23591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core.vw_sales_performance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85800" y="4087368"/>
            <a:ext cx="2359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2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count, revenue, AOV, items/order, customer &amp; promo mix by date, store, and channel.</a:t>
            </a:r>
            <a:endParaRPr lang="en-US" sz="920" dirty="0"/>
          </a:p>
        </p:txBody>
      </p:sp>
      <p:sp>
        <p:nvSpPr>
          <p:cNvPr id="32" name="Shape 30"/>
          <p:cNvSpPr/>
          <p:nvPr/>
        </p:nvSpPr>
        <p:spPr>
          <a:xfrm>
            <a:off x="3355848" y="3703320"/>
            <a:ext cx="2633472" cy="1005840"/>
          </a:xfrm>
          <a:prstGeom prst="roundRect">
            <a:avLst>
              <a:gd name="adj" fmla="val 5455"/>
            </a:avLst>
          </a:prstGeom>
          <a:solidFill>
            <a:srgbClr val="F2F4FA"/>
          </a:solidFill>
          <a:ln/>
        </p:spPr>
      </p:sp>
      <p:sp>
        <p:nvSpPr>
          <p:cNvPr id="33" name="Text 31"/>
          <p:cNvSpPr/>
          <p:nvPr/>
        </p:nvSpPr>
        <p:spPr>
          <a:xfrm>
            <a:off x="3493008" y="3785616"/>
            <a:ext cx="23591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core.vw_delivery_performance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3493008" y="4087368"/>
            <a:ext cx="2359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2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count, SLA compliance, average delivery time, and delay by date and store.</a:t>
            </a:r>
            <a:endParaRPr lang="en-US" sz="920" dirty="0"/>
          </a:p>
        </p:txBody>
      </p:sp>
      <p:sp>
        <p:nvSpPr>
          <p:cNvPr id="35" name="Shape 33"/>
          <p:cNvSpPr/>
          <p:nvPr/>
        </p:nvSpPr>
        <p:spPr>
          <a:xfrm>
            <a:off x="6163056" y="3703320"/>
            <a:ext cx="2633472" cy="1005840"/>
          </a:xfrm>
          <a:prstGeom prst="roundRect">
            <a:avLst>
              <a:gd name="adj" fmla="val 5455"/>
            </a:avLst>
          </a:prstGeom>
          <a:solidFill>
            <a:srgbClr val="F2F4FA"/>
          </a:solidFill>
          <a:ln/>
        </p:spPr>
      </p:sp>
      <p:sp>
        <p:nvSpPr>
          <p:cNvPr id="36" name="Text 34"/>
          <p:cNvSpPr/>
          <p:nvPr/>
        </p:nvSpPr>
        <p:spPr>
          <a:xfrm>
            <a:off x="6300216" y="3785616"/>
            <a:ext cx="23591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core.vw_product_performance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300216" y="4087368"/>
            <a:ext cx="2359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2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 and revenue by date, store, channel, and product — no fact-to-fact join needed.</a:t>
            </a:r>
            <a:endParaRPr lang="en-US" sz="920" dirty="0"/>
          </a:p>
        </p:txBody>
      </p:sp>
      <p:sp>
        <p:nvSpPr>
          <p:cNvPr id="38" name="Shape 36"/>
          <p:cNvSpPr/>
          <p:nvPr/>
        </p:nvSpPr>
        <p:spPr>
          <a:xfrm>
            <a:off x="8970264" y="3703320"/>
            <a:ext cx="2633472" cy="1005840"/>
          </a:xfrm>
          <a:prstGeom prst="roundRect">
            <a:avLst>
              <a:gd name="adj" fmla="val 5455"/>
            </a:avLst>
          </a:prstGeom>
          <a:solidFill>
            <a:srgbClr val="F2F4FA"/>
          </a:solidFill>
          <a:ln/>
        </p:spPr>
      </p:sp>
      <p:sp>
        <p:nvSpPr>
          <p:cNvPr id="39" name="Text 37"/>
          <p:cNvSpPr/>
          <p:nvPr/>
        </p:nvSpPr>
        <p:spPr>
          <a:xfrm>
            <a:off x="9107424" y="3785616"/>
            <a:ext cx="23591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core.vw_customer_summary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9107424" y="4087368"/>
            <a:ext cx="2359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2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Lifetime order count, revenue, and recency per customer.</a:t>
            </a:r>
            <a:endParaRPr lang="en-US" sz="920" dirty="0"/>
          </a:p>
        </p:txBody>
      </p:sp>
      <p:sp>
        <p:nvSpPr>
          <p:cNvPr id="41" name="Shape 39"/>
          <p:cNvSpPr/>
          <p:nvPr/>
        </p:nvSpPr>
        <p:spPr>
          <a:xfrm>
            <a:off x="548640" y="4846320"/>
            <a:ext cx="11091672" cy="1508760"/>
          </a:xfrm>
          <a:prstGeom prst="roundRect">
            <a:avLst>
              <a:gd name="adj" fmla="val 3636"/>
            </a:avLst>
          </a:prstGeom>
          <a:solidFill>
            <a:srgbClr val="F2F4FA"/>
          </a:solidFill>
          <a:ln/>
        </p:spPr>
      </p:sp>
      <p:sp>
        <p:nvSpPr>
          <p:cNvPr id="42" name="Text 40"/>
          <p:cNvSpPr/>
          <p:nvPr/>
        </p:nvSpPr>
        <p:spPr>
          <a:xfrm>
            <a:off x="822960" y="4965192"/>
            <a:ext cx="105430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 Rationale — Why Two Staging Stages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822960" y="5285232"/>
            <a:ext cx="10543032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3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MinIO/Parquet staging is object-store staging: typed, 1:1 copy of source, still ungoverned by business logic — kept for lineage and cheap re-reads.</a:t>
            </a:r>
            <a:endParaRPr lang="en-US" sz="103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3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DuckDB staging (int_*) is where real cleaning happens: dedup by business key, TRY_CAST timestamp parsing, and standardization (e.g. clean_city).</a:t>
            </a:r>
            <a:endParaRPr lang="en-US" sz="103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3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late/corrected arrival lands as a new immutable raw object; DuckDB staging keeps the newest _loaded_at per key, so it supersedes cleanly without deleting history.</a:t>
            </a:r>
            <a:endParaRPr lang="en-US" sz="1030" dirty="0"/>
          </a:p>
        </p:txBody>
      </p:sp>
      <p:sp>
        <p:nvSpPr>
          <p:cNvPr id="44" name="Text 42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Eat'N'Go BI Engineering Pipeline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Dimensional Model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2F8F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 schema on DuckDB — order and item measures kept separate to prevent double-counted revenue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480560" y="1783080"/>
            <a:ext cx="3200400" cy="68580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4617720" y="185623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fact_orders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617720" y="213055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row / order — header &amp; revenue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4480560" y="2606040"/>
            <a:ext cx="3200400" cy="68580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4617720" y="267919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fact_order_items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617720" y="295351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row / order+product line — product mix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480560" y="3429000"/>
            <a:ext cx="3200400" cy="68580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4617720" y="350215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fact_deliveries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617720" y="377647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row / delivered order — SLA &amp; delay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57200" y="1600200"/>
            <a:ext cx="1600200" cy="502920"/>
          </a:xfrm>
          <a:prstGeom prst="roundRect">
            <a:avLst>
              <a:gd name="adj" fmla="val 10909"/>
            </a:avLst>
          </a:prstGeom>
          <a:solidFill>
            <a:srgbClr val="2F8F9D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160020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dim_customer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240280" y="1600200"/>
            <a:ext cx="1600200" cy="502920"/>
          </a:xfrm>
          <a:prstGeom prst="roundRect">
            <a:avLst>
              <a:gd name="adj" fmla="val 10909"/>
            </a:avLst>
          </a:prstGeom>
          <a:solidFill>
            <a:srgbClr val="2F8F9D"/>
          </a:solidFill>
          <a:ln/>
        </p:spPr>
      </p:sp>
      <p:sp>
        <p:nvSpPr>
          <p:cNvPr id="16" name="Text 14"/>
          <p:cNvSpPr/>
          <p:nvPr/>
        </p:nvSpPr>
        <p:spPr>
          <a:xfrm>
            <a:off x="2240280" y="160020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dim_store (SCD2)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57200" y="2258568"/>
            <a:ext cx="1600200" cy="502920"/>
          </a:xfrm>
          <a:prstGeom prst="roundRect">
            <a:avLst>
              <a:gd name="adj" fmla="val 10909"/>
            </a:avLst>
          </a:prstGeom>
          <a:solidFill>
            <a:srgbClr val="2F8F9D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2258568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dim_product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240280" y="2258568"/>
            <a:ext cx="1600200" cy="502920"/>
          </a:xfrm>
          <a:prstGeom prst="roundRect">
            <a:avLst>
              <a:gd name="adj" fmla="val 10909"/>
            </a:avLst>
          </a:prstGeom>
          <a:solidFill>
            <a:srgbClr val="2F8F9D"/>
          </a:solidFill>
          <a:ln/>
        </p:spPr>
      </p:sp>
      <p:sp>
        <p:nvSpPr>
          <p:cNvPr id="20" name="Text 18"/>
          <p:cNvSpPr/>
          <p:nvPr/>
        </p:nvSpPr>
        <p:spPr>
          <a:xfrm>
            <a:off x="2240280" y="2258568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dim_date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57200" y="2916936"/>
            <a:ext cx="1600200" cy="502920"/>
          </a:xfrm>
          <a:prstGeom prst="roundRect">
            <a:avLst>
              <a:gd name="adj" fmla="val 10909"/>
            </a:avLst>
          </a:prstGeom>
          <a:solidFill>
            <a:srgbClr val="2F8F9D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2916936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dim_channel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240280" y="2916936"/>
            <a:ext cx="1600200" cy="502920"/>
          </a:xfrm>
          <a:prstGeom prst="roundRect">
            <a:avLst>
              <a:gd name="adj" fmla="val 10909"/>
            </a:avLst>
          </a:prstGeom>
          <a:solidFill>
            <a:srgbClr val="2F8F9D"/>
          </a:solidFill>
          <a:ln/>
        </p:spPr>
      </p:sp>
      <p:sp>
        <p:nvSpPr>
          <p:cNvPr id="24" name="Text 22"/>
          <p:cNvSpPr/>
          <p:nvPr/>
        </p:nvSpPr>
        <p:spPr>
          <a:xfrm>
            <a:off x="2240280" y="2916936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dim_payment_method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57200" y="3575304"/>
            <a:ext cx="1600200" cy="502920"/>
          </a:xfrm>
          <a:prstGeom prst="roundRect">
            <a:avLst>
              <a:gd name="adj" fmla="val 10909"/>
            </a:avLst>
          </a:prstGeom>
          <a:solidFill>
            <a:srgbClr val="2F8F9D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" y="3575304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dim_promo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7955280" y="1783080"/>
            <a:ext cx="36576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Grain-safe by design: fact_order_items carries its own date/store/channel keys, so product reporting never needs a fact-to-fact join through fact_orders.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955280" y="3063240"/>
            <a:ext cx="36576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dim_store uses Slowly Changing Dimension Type 2, versioning store attributes so history stays accurate (see next slide).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48640" y="4709160"/>
            <a:ext cx="2606040" cy="1051560"/>
          </a:xfrm>
          <a:prstGeom prst="roundRect">
            <a:avLst>
              <a:gd name="adj" fmla="val 5217"/>
            </a:avLst>
          </a:prstGeom>
          <a:solidFill>
            <a:srgbClr val="F2F4FA"/>
          </a:solidFill>
          <a:ln/>
        </p:spPr>
      </p:sp>
      <p:sp>
        <p:nvSpPr>
          <p:cNvPr id="30" name="Text 28"/>
          <p:cNvSpPr/>
          <p:nvPr/>
        </p:nvSpPr>
        <p:spPr>
          <a:xfrm>
            <a:off x="548640" y="480060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1,000</a:t>
            </a:r>
            <a:endParaRPr lang="en-US" sz="3000" dirty="0"/>
          </a:p>
        </p:txBody>
      </p:sp>
      <p:sp>
        <p:nvSpPr>
          <p:cNvPr id="31" name="Text 29"/>
          <p:cNvSpPr/>
          <p:nvPr/>
        </p:nvSpPr>
        <p:spPr>
          <a:xfrm>
            <a:off x="548640" y="5367528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383280" y="4709160"/>
            <a:ext cx="2606040" cy="1051560"/>
          </a:xfrm>
          <a:prstGeom prst="roundRect">
            <a:avLst>
              <a:gd name="adj" fmla="val 5217"/>
            </a:avLst>
          </a:prstGeom>
          <a:solidFill>
            <a:srgbClr val="F2F4FA"/>
          </a:solidFill>
          <a:ln/>
        </p:spPr>
      </p:sp>
      <p:sp>
        <p:nvSpPr>
          <p:cNvPr id="33" name="Text 31"/>
          <p:cNvSpPr/>
          <p:nvPr/>
        </p:nvSpPr>
        <p:spPr>
          <a:xfrm>
            <a:off x="3383280" y="480060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1,733</a:t>
            </a:r>
            <a:endParaRPr lang="en-US" sz="3000" dirty="0"/>
          </a:p>
        </p:txBody>
      </p:sp>
      <p:sp>
        <p:nvSpPr>
          <p:cNvPr id="34" name="Text 32"/>
          <p:cNvSpPr/>
          <p:nvPr/>
        </p:nvSpPr>
        <p:spPr>
          <a:xfrm>
            <a:off x="3383280" y="5367528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lines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217920" y="4709160"/>
            <a:ext cx="2606040" cy="1051560"/>
          </a:xfrm>
          <a:prstGeom prst="roundRect">
            <a:avLst>
              <a:gd name="adj" fmla="val 5217"/>
            </a:avLst>
          </a:prstGeom>
          <a:solidFill>
            <a:srgbClr val="F2F4FA"/>
          </a:solidFill>
          <a:ln/>
        </p:spPr>
      </p:sp>
      <p:sp>
        <p:nvSpPr>
          <p:cNvPr id="36" name="Text 34"/>
          <p:cNvSpPr/>
          <p:nvPr/>
        </p:nvSpPr>
        <p:spPr>
          <a:xfrm>
            <a:off x="6217920" y="480060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454</a:t>
            </a:r>
            <a:endParaRPr lang="en-US" sz="3000" dirty="0"/>
          </a:p>
        </p:txBody>
      </p:sp>
      <p:sp>
        <p:nvSpPr>
          <p:cNvPr id="37" name="Text 35"/>
          <p:cNvSpPr/>
          <p:nvPr/>
        </p:nvSpPr>
        <p:spPr>
          <a:xfrm>
            <a:off x="6217920" y="5367528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deliveries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9052560" y="4709160"/>
            <a:ext cx="2606040" cy="1051560"/>
          </a:xfrm>
          <a:prstGeom prst="roundRect">
            <a:avLst>
              <a:gd name="adj" fmla="val 5217"/>
            </a:avLst>
          </a:prstGeom>
          <a:solidFill>
            <a:srgbClr val="F2F4FA"/>
          </a:solidFill>
          <a:ln/>
        </p:spPr>
      </p:sp>
      <p:sp>
        <p:nvSpPr>
          <p:cNvPr id="39" name="Text 37"/>
          <p:cNvSpPr/>
          <p:nvPr/>
        </p:nvSpPr>
        <p:spPr>
          <a:xfrm>
            <a:off x="9052560" y="480060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3000" dirty="0"/>
          </a:p>
        </p:txBody>
      </p:sp>
      <p:sp>
        <p:nvSpPr>
          <p:cNvPr id="40" name="Text 38"/>
          <p:cNvSpPr/>
          <p:nvPr/>
        </p:nvSpPr>
        <p:spPr>
          <a:xfrm>
            <a:off x="9052560" y="5367528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stores, SCD2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Eat'N'Go BI Engineering Pipeline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Store History &amp; Orchestration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508760"/>
            <a:ext cx="5349240" cy="4709160"/>
          </a:xfrm>
          <a:prstGeom prst="roundRect">
            <a:avLst>
              <a:gd name="adj" fmla="val 1165"/>
            </a:avLst>
          </a:prstGeom>
          <a:solidFill>
            <a:srgbClr val="F2F4FA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69164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SCD Type 2 for dim_store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" y="2148840"/>
            <a:ext cx="484632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attributes (currently city) can change over time, and historical orders must report against the store as it was on the order date — not as it is today.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SCD2 keeps every store version with an effective date range; fact_orders, fact_order_items, and fact_deliveries join to the version effective when the order happened.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dimension bootstraps from 1900-01-01 so orders that predate the first tracked change still join correctly.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prior store attributes historically correct without overwriting or losing them — an SCD1 (overwrite) approach would silently rewrite past reporting.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172200" y="1508760"/>
            <a:ext cx="5468112" cy="4709160"/>
          </a:xfrm>
          <a:prstGeom prst="roundRect">
            <a:avLst>
              <a:gd name="adj" fmla="val 1165"/>
            </a:avLst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6446520" y="1691640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Orchestration with Apache Airflow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46520" y="2084832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eat_ngo_json_source_pipeline  ·  daily 08:00 UTC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46520" y="2514600"/>
            <a:ext cx="493776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Check the JSON source drop is complete (skips cleanly if unchanged)</a:t>
            </a:r>
            <a:endParaRPr lang="en-US" sz="11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Land JSON raw to MinIO, convert to typed Parquet (object-store staging)</a:t>
            </a:r>
            <a:endParaRPr lang="en-US" sz="11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Build cleaned DuckDB staging tables — int_* (dedup, parsing, cleanup)</a:t>
            </a:r>
            <a:endParaRPr lang="en-US" sz="11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Update the SCD2 store dimension</a:t>
            </a:r>
            <a:endParaRPr lang="en-US" sz="11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Build marts and BI views</a:t>
            </a:r>
            <a:endParaRPr lang="en-US" sz="11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Run data quality checks + reconciliation</a:t>
            </a:r>
            <a:endParaRPr lang="en-US" sz="11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 Fail fast on any hard audit check; else mark source fingerprint processed</a:t>
            </a:r>
            <a:endParaRPr lang="en-US" sz="11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 Send a success/failure summary email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Eat'N'Go BI Engineering Pipeline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Quality, Reconciliation &amp; Validation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2834640" cy="1143000"/>
          </a:xfrm>
          <a:prstGeom prst="roundRect">
            <a:avLst>
              <a:gd name="adj" fmla="val 4800"/>
            </a:avLst>
          </a:prstGeom>
          <a:solidFill>
            <a:srgbClr val="2F8F9D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627632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39 / 2 / 0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219456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DQ checks: pass / warn / fail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3611880" y="1554480"/>
            <a:ext cx="2834640" cy="1143000"/>
          </a:xfrm>
          <a:prstGeom prst="roundRect">
            <a:avLst>
              <a:gd name="adj" fmla="val 4800"/>
            </a:avLst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3611880" y="1627632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 / 0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3611880" y="219456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Reconciliation: pass / fail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48640" y="2971800"/>
            <a:ext cx="548640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Manifest-based schema drift detection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5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Chosen over passive inference so the pipeline actively governs what flows downstream rather than discovering problems after the fact.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column → non-breaking, load proceeds with a warning.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 removed / incompatible type change → breaking, that source's load halts; other sources unaffected.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 widening (e.g. BIGINT→DOUBLE) is treated as non-breaking.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309360" y="2971800"/>
            <a:ext cx="534924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 &amp; business-review exceptions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5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check and reconciliation row is written to current and run_id-keyed history tables, so each run can be reviewed after the fact.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151 orders with a promo code but zero discount — retained as a warning for business review, not silently corrected.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Unusual daily order-volume changes — flagged, not blocked.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deliveries.json is treated as the single source of truth for delivery metrics over duplicate fields on orders.json.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Eat'N'Go BI Engineering Pipeline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2F8F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API Integration Extension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reusable ingestion path for a future delivery-partner or provider API, alongside the JSON file drop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3657600" cy="1600200"/>
          </a:xfrm>
          <a:prstGeom prst="roundRect">
            <a:avLst>
              <a:gd name="adj" fmla="val 4000"/>
            </a:avLst>
          </a:prstGeom>
          <a:solidFill>
            <a:srgbClr val="263275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1031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8F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2441448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OAuth client-credentials, bearer token, or unauthenticated dev endpoints. Credentials come only from environment variables or CLI flags.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462272" y="1965960"/>
            <a:ext cx="3657600" cy="1600200"/>
          </a:xfrm>
          <a:prstGeom prst="roundRect">
            <a:avLst>
              <a:gd name="adj" fmla="val 4000"/>
            </a:avLst>
          </a:prstGeom>
          <a:solidFill>
            <a:srgbClr val="263275"/>
          </a:solidFill>
          <a:ln/>
        </p:spPr>
      </p:sp>
      <p:sp>
        <p:nvSpPr>
          <p:cNvPr id="9" name="Text 7"/>
          <p:cNvSpPr/>
          <p:nvPr/>
        </p:nvSpPr>
        <p:spPr>
          <a:xfrm>
            <a:off x="4645152" y="21031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8F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Pagination &amp; retries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645152" y="2441448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cursor page is followed; rate-limit and server-error responses are retried automatically before the run fails.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8375904" y="1965960"/>
            <a:ext cx="3657600" cy="1600200"/>
          </a:xfrm>
          <a:prstGeom prst="roundRect">
            <a:avLst>
              <a:gd name="adj" fmla="val 4000"/>
            </a:avLst>
          </a:prstGeom>
          <a:solidFill>
            <a:srgbClr val="263275"/>
          </a:solidFill>
          <a:ln/>
        </p:spPr>
      </p:sp>
      <p:sp>
        <p:nvSpPr>
          <p:cNvPr id="12" name="Text 10"/>
          <p:cNvSpPr/>
          <p:nvPr/>
        </p:nvSpPr>
        <p:spPr>
          <a:xfrm>
            <a:off x="8558784" y="21031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8F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Interval-based extraction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558784" y="2441448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Pulls bounded [start, end) windows in 60-minute chunks instead of an unbounded "everything since last run" call — keeps retries small and logs easy to inspect.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48640" y="3794760"/>
            <a:ext cx="3657600" cy="1600200"/>
          </a:xfrm>
          <a:prstGeom prst="roundRect">
            <a:avLst>
              <a:gd name="adj" fmla="val 4000"/>
            </a:avLst>
          </a:prstGeom>
          <a:solidFill>
            <a:srgbClr val="263275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39319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8F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Late-data lookback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31520" y="4270248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run resumes from the last watermark, rewinds 10 minutes to catch late provider corrections, then advances the watermark only after a successful raw write.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462272" y="3794760"/>
            <a:ext cx="3657600" cy="1600200"/>
          </a:xfrm>
          <a:prstGeom prst="roundRect">
            <a:avLst>
              <a:gd name="adj" fmla="val 4000"/>
            </a:avLst>
          </a:prstGeom>
          <a:solidFill>
            <a:srgbClr val="263275"/>
          </a:solidFill>
          <a:ln/>
        </p:spPr>
      </p:sp>
      <p:sp>
        <p:nvSpPr>
          <p:cNvPr id="18" name="Text 16"/>
          <p:cNvSpPr/>
          <p:nvPr/>
        </p:nvSpPr>
        <p:spPr>
          <a:xfrm>
            <a:off x="4645152" y="39319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8F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filters &amp; backfill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645152" y="4270248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store-id filters for targeted pulls; explicit --api-interval-start/end for controlled backfills and replays.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8375904" y="3794760"/>
            <a:ext cx="3657600" cy="1600200"/>
          </a:xfrm>
          <a:prstGeom prst="roundRect">
            <a:avLst>
              <a:gd name="adj" fmla="val 4000"/>
            </a:avLst>
          </a:prstGeom>
          <a:solidFill>
            <a:srgbClr val="263275"/>
          </a:solidFill>
          <a:ln/>
        </p:spPr>
      </p:sp>
      <p:sp>
        <p:nvSpPr>
          <p:cNvPr id="21" name="Text 19"/>
          <p:cNvSpPr/>
          <p:nvPr/>
        </p:nvSpPr>
        <p:spPr>
          <a:xfrm>
            <a:off x="8558784" y="39319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8F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warehouse path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558784" y="4270248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is normalised to the existing deliveries.json contract and lands at the same raw path — staging, marts, DQ, and reconciliation are shared with the JSON flow, no separate model.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48640" y="6172200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locally with a FastAPI delivery-partner simulator (SQLite-backed, seeded Faker data) exercising pagination, filters, and late/duplicate/failed-delivery scenarios before any real vendor contract exists.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Eat'N'Go BI Engineering Pipeline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2026-07-26T23:00:18Z</dcterms:created>
  <dcterms:modified xsi:type="dcterms:W3CDTF">2026-07-26T23:00:18Z</dcterms:modified>
</cp:coreProperties>
</file>